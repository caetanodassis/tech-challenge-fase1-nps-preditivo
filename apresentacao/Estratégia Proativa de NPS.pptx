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92d71f13-2275-40a5-a076-9a32f77901d2.fntdata" /><ns0:Relationship Id="rIdFont18" Type="http://schemas.openxmlformats.org/officeDocument/2006/relationships/font" Target="fonts/c1b36356-402c-4d3e-bf3e-d8effb73b34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196554"/>
            <a:ext cx="5715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539454"/>
            <a:ext cx="9101137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Inter"/>
              </a:rPr>
              <a:t>Do Atrito à Lealdade:</a:t>
            </a:r>
            <a:r>
              <a:t>
</a:t>
            </a:r>
            <a:r>
              <a:rPr b="1" sz="4800" i="0" u="none">
                <a:solidFill>
                  <a:srgbClr val="F8FAFC"/>
                </a:solidFill>
                <a:latin typeface="Inter"/>
              </a:rPr>
              <a:t> Estratégia Preditiva de NPS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108995"/>
            <a:ext cx="6762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Transformando dados operacionais em ações preventivas para proteger a receita do e-commerce.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28825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619500"/>
            <a:ext cx="381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509837"/>
            <a:ext cx="600075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O Desafio de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05162"/>
            <a:ext cx="466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O crescimento acelerado do volume de pedidos gerou instabilidade na experiência do cliente. Atualmente, somos reativos: o NPS é medido apenas no fim da jornada.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86025"/>
            <a:ext cx="5334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Alta Variabilidade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38450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NPS oscila drasticamente entre clientes com indicadores similares.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076700"/>
            <a:ext cx="5334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Ponto Cego Operacional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429125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Falta capacidade de antecipar problemas antes da pesquisa final.</a:t>
            </a:r>
          </a:p>
        </p:txBody>
      </p:sp>
    </p:spTree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6086475" y="3895725"/>
            <ns1:ext cx="19050" cy="1143000"/>
          </ns1:xfrm>
          <ns1:prstGeom prst="rect">
            <ns1:avLst/>
          </ns1:prstGeom>
          <ns1:solidFill>
            <ns1:srgbClr val="E2E8F0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62000" y="762000"/>
            <ns1:ext cx="11430000" cy="1905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1200" i="0" u="none">
                <ns1:solidFill>
                  <ns1:srgbClr val="64748B"/>
                </ns1:solidFill>
                <ns1:latin typeface="Inter"/>
              </ns1:rPr>
              <ns1:t>O CUSTO DA INSATISFAÇÃO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762000" y="1104900"/>
            <ns1:ext cx="8101012" cy="112395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1" sz="3600" i="0" u="none">
                <ns1:solidFill>
                  <ns1:srgbClr val="0F172A"/>
                </ns1:solidFill>
                <ns1:latin typeface="Inter"/>
              </ns1:rPr>
              <ns1:t>Nesta base, recompra coincide exatamente com um corte da nota.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44065" y="3686175"/>
            <ns1:ext cx="6179343" cy="9144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ctr">
              <ns1:lnSpc>
                <ns1:spcPts val="7200"/>
              </ns1:lnSpc>
            </ns1:pPr>
            <ns1:r>
              <ns1:rPr b="1" sz="7200" i="0" u="none">
                <ns1:solidFill>
                  <ns1:srgbClr val="0F172A"/>
                </ns1:solidFill>
                <ns1:latin typeface="Inter"/>
              </ns1:rPr>
              <ns1:t>100%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144065" y="4752975"/>
            <ns1:ext cx="6179343" cy="2286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ctr"/>
            <ns1:r>
              <ns1:rPr b="1" sz="1500" i="0" u="none">
                <ns1:solidFill>
                  <ns1:srgbClr val="0F172A"/>
                </ns1:solidFill>
                <ns1:latin typeface="Inter"/>
              </ns1:rPr>
              <ns1:t>Notas acima de 8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144065" y="5057775"/>
            <ns1:ext cx="6179343" cy="1905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ctr"/>
            <ns1:r>
              <ns1:rPr b="0" sz="1200" i="0" u="none">
                <ns1:solidFill>
                  <ns1:srgbClr val="64748B"/>
                </ns1:solidFill>
                <ns1:latin typeface="Inter"/>
              </ns1:rPr>
              <ns1:t>Recompra observada; regra coincide com nota.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5868590" y="3686175"/>
            <ns1:ext cx="6179343" cy="9144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ctr">
              <ns1:lnSpc>
                <ns1:spcPts val="7200"/>
              </ns1:lnSpc>
            </ns1:pPr>
            <ns1:r>
              <ns1:rPr b="1" sz="7200" i="0" u="none">
                <ns1:solidFill>
                  <ns1:srgbClr val="E11D48"/>
                </ns1:solidFill>
                <ns1:latin typeface="Inter"/>
              </ns1:rPr>
              <ns1:t>0%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5868590" y="4752975"/>
            <ns1:ext cx="6179343" cy="2286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ctr"/>
            <ns1:r>
              <ns1:rPr b="1" sz="1500" i="0" u="none">
                <ns1:solidFill>
                  <ns1:srgbClr val="0F172A"/>
                </ns1:solidFill>
                <ns1:latin typeface="Inter"/>
              </ns1:rPr>
              <ns1:t>Notas até 6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5868590" y="5057775"/>
            <ns1:ext cx="6179343" cy="1905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ctr"/>
            <ns1:r>
              <ns1:rPr b="0" sz="1200" i="0" u="none">
                <ns1:solidFill>
                  <ns1:srgbClr val="64748B"/>
                </ns1:solidFill>
                <ns1:latin typeface="Inter"/>
              </ns1:rPr>
              <ns1:t>Nenhuma recompra observada; não prova churn.</ns1:t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8FA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762000" y="2452687"/>
            <ns1:ext cx="3352800" cy="2876550"/>
          </ns1:xfrm>
          <ns1:prstGeom prst="roundRect">
            <ns1:avLst>
              <ns1:gd name="adj" fmla="val 5298"/>
            </ns1:avLst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ounded Rectangle 2"/>
          <ns0:cNvSpPr/>
          <ns0:nvPr/>
        </ns0:nvSpPr>
        <ns0:spPr>
          <ns1:xfrm>
            <ns1:off x="4419600" y="2390775"/>
            <ns1:ext cx="3352800" cy="3000375"/>
          </ns1:xfrm>
          <ns1:prstGeom prst="roundRect">
            <ns1:avLst>
              <ns1:gd name="adj" fmla="val 5079"/>
            </ns1:avLst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8077200" y="2152650"/>
            <ns1:ext cx="3352800" cy="3476625"/>
          </ns1:xfrm>
          <ns1:prstGeom prst="roundRect">
            <ns1:avLst>
              <ns1:gd name="adj" fmla="val 4545"/>
            </ns1:avLst>
          </ns1:prstGeom>
          <ns1:solidFill>
            <ns1:srgbClr val="FFFFFF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5" name="Picture 4" descr="image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1143000" y="2833687"/>
            <ns1:ext cx="476250" cy="381000"/>
          </ns1:xfrm>
          <ns1:prstGeom prst="rect">
            <ns1:avLst/>
          </ns1:prstGeom>
        </ns0:spPr>
      </ns0:pic>
      <ns0:pic>
        <ns0:nvPicPr>
          <ns0:cNvPr id="6" name="Picture 5" descr="image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4800600" y="2771775"/>
            <ns1:ext cx="381000" cy="381000"/>
          </ns1:xfrm>
          <ns1:prstGeom prst="rect">
            <ns1:avLst/>
          </ns1:prstGeom>
        </ns0:spPr>
      </ns0:pic>
      <ns0:pic>
        <ns0:nvPicPr>
          <ns0:cNvPr id="7" name="Picture 6" descr="imag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8458200" y="2533650"/>
            <ns1:ext cx="476250" cy="381000"/>
          </ns1:xfrm>
          <ns1:prstGeom prst="rect">
            <ns1:avLst/>
          </ns1:prstGeom>
        </ns0:spPr>
      </ns0:pic>
      <ns0:sp>
        <ns0:nvSpPr>
          <ns0:cNvPr id="8" name="TextBox 7"/>
          <ns0:cNvSpPr txBox="1"/>
          <ns0:nvPr/>
        </ns0:nvSpPr>
        <ns0:spPr>
          <ns1:xfrm>
            <ns1:off x="762000" y="762000"/>
            <ns1:ext cx="11430000" cy="46672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3000" i="0" u="none">
                <ns1:solidFill>
                  <ns1:srgbClr val="0F172A"/>
                </ns1:solidFill>
                <ns1:latin typeface="Inter"/>
              </ns1:rPr>
              <ns1:t>Os Inimigos da Satisfação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1143000" y="3443287"/>
            <ns1:ext cx="3400425" cy="32385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2100" i="0" u="none">
                <ns1:solidFill>
                  <ns1:srgbClr val="0F172A"/>
                </ns1:solidFill>
                <ns1:latin typeface="Inter"/>
              </ns1:rPr>
              <ns1:t>Atraso Logístico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1143000" y="3919537"/>
            <ns1:ext cx="3238500" cy="27622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1800" i="0" u="none">
                <ns1:solidFill>
                  <ns1:srgbClr val="E11D48"/>
                </ns1:solidFill>
                <ns1:latin typeface="Inter"/>
              </ns1:rPr>
              <ns1:t>rho = -0,59 (Spearman)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1143000" y="4348162"/>
            <ns1:ext cx="2686050" cy="600075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0" sz="1350" i="0" u="none">
                <ns1:solidFill>
                  <ns1:srgbClr val="475569"/>
                </ns1:solidFill>
                <ns1:latin typeface="Inter"/>
              </ns1:rPr>
              <ns1:t>Associação negativa mais forte observada; sem prova de causa.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4800600" y="3381375"/>
            <ns1:ext cx="2820352" cy="64770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1" sz="2100" i="0" u="none">
                <ns1:solidFill>
                  <ns1:srgbClr val="0F172A"/>
                </ns1:solidFill>
                <ns1:latin typeface="Inter"/>
              </ns1:rPr>
              <ns1:t>Volume de Reclamações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4800600" y="4181475"/>
            <ns1:ext cx="3238500" cy="27622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1800" i="0" u="none">
                <ns1:solidFill>
                  <ns1:srgbClr val="E11D48"/>
                </ns1:solidFill>
                <ns1:latin typeface="Inter"/>
              </ns1:rPr>
              <ns1:t>rho = -0,49 (Spearman)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4800600" y="4610100"/>
            <ns1:ext cx="2686050" cy="40005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0" sz="1350" i="0" u="none">
                <ns1:solidFill>
                  <ns1:srgbClr val="475569"/>
                </ns1:solidFill>
                <ns1:latin typeface="Inter"/>
              </ns1:rPr>
              <ns1:t>Associação negativa observada; reclamação também reflete a experiência.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8458200" y="3143250"/>
            <ns1:ext cx="2820352" cy="64770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1" sz="2100" i="0" u="none">
                <ns1:solidFill>
                  <ns1:srgbClr val="0F172A"/>
                </ns1:solidFill>
                <ns1:latin typeface="Inter"/>
              </ns1:rPr>
              <ns1:t>Tentativas de Entrega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8458200" y="3943350"/>
            <ns1:ext cx="2686050" cy="55245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1" sz="1800" i="0" u="none">
                <ns1:solidFill>
                  <ns1:srgbClr val="0F172A"/>
                </ns1:solidFill>
                <ns1:latin typeface="Inter"/>
              </ns1:rPr>
              <ns1:t>rho = +0,03 (Spearman)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8458200" y="4648200"/>
            <ns1:ext cx="2686050" cy="600075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0" sz="1350" i="0" u="none">
                <ns1:solidFill>
                  <ns1:srgbClr val="475569"/>
                </ns1:solidFill>
                <ns1:latin typeface="Inter"/>
              </ns1:rPr>
              <ns1:t>Não observamos associação relevante nesta amostra.</ns1:t>
            </ns1: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-285750" y="762000"/>
            <ns1:ext cx="12763500" cy="46672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ctr"/>
            <ns1:r>
              <ns1:rPr b="1" sz="3000" i="0" u="none">
                <ns1:solidFill>
                  <ns1:srgbClr val="0F172A"/>
                </ns1:solidFill>
                <ns1:latin typeface="Inter"/>
              </ns1:rPr>
              <ns1:t>O primeiro dia de atraso merece atenção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-285750" y="1381125"/>
            <ns1:ext cx="12763500" cy="2286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ctr"/>
            <ns1:r>
              <ns1:rPr b="0" sz="1500" i="0" u="none">
                <ns1:solidFill>
                  <ns1:srgbClr val="64748B"/>
                </ns1:solidFill>
                <ns1:latin typeface="Inter"/>
              </ns1:rPr>
              <ns1:t>Maior queda observada entre pedidos sem atraso e com um dia de atraso.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4600575" y="2867025"/>
            <ns1:ext cx="3738562" cy="13716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>
              <ns1:lnSpc>
                <ns1:spcPts val="10800"/>
              </ns1:lnSpc>
            </ns1:pPr>
            <ns1:r>
              <ns1:rPr b="1" sz="10800" i="0" u="none">
                <ns1:solidFill>
                  <ns1:srgbClr val="E11D48"/>
                </ns1:solidFill>
                <ns1:latin typeface="Inter"/>
              </ns1:rPr>
              <ns1:t>1 dia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3776662" y="4467225"/>
            <ns1:ext cx="5798343" cy="27622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1800" i="0" u="none">
                <ns1:solidFill>
                  <ns1:srgbClr val="0F172A"/>
                </ns1:solidFill>
                <ns1:latin typeface="Inter"/>
              </ns1:rPr>
              <ns1:t>NPS médio: 6,86 → 5,55; detratores: 36% → 60% (n=277 e n=615).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2524125" y="4895850"/>
            <ns1:ext cx="7143750" cy="40005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ctr"/>
            <ns1:r>
              <ns1:rPr b="0" sz="1350" i="0" u="none">
                <ns1:solidFill>
                  <ns1:srgbClr val="475569"/>
                </ns1:solidFill>
                <ns1:latin typeface="Inter"/>
              </ns1:rPr>
              <ns1:t>Padrão descritivo da amostra; não demonstra um limiar causal.</ns1:t>
            </ns1: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8FA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6091237" y="1838325"/>
            <ns1:ext cx="9525" cy="4257675"/>
          </ns1:xfrm>
          <ns1:prstGeom prst="rect">
            <ns1:avLst/>
          </ns1:prstGeom>
          <ns1:solidFill>
            <ns1:srgbClr val="CBD5E1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762000" y="1838325"/>
            <ns1:ext cx="4719637" cy="447675"/>
          </ns1:xfrm>
          <ns1:prstGeom prst="rect">
            <ns1:avLst/>
          </ns1:prstGeom>
          <ns1:noFill/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6710362" y="1838325"/>
            <ns1:ext cx="4719637" cy="447675"/>
          </ns1:xfrm>
          <ns1:prstGeom prst="rect">
            <ns1:avLst/>
          </ns1:prstGeom>
          <ns1:noFill/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762000" y="2266950"/>
            <ns1:ext cx="4719637" cy="19050"/>
          </ns1:xfrm>
          <ns1:prstGeom prst="rect">
            <ns1:avLst/>
          </ns1:prstGeom>
          <ns1:solidFill>
            <ns1:srgbClr val="E2E8F0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6710362" y="2266950"/>
            <ns1:ext cx="4719637" cy="19050"/>
          </ns1:xfrm>
          <ns1:prstGeom prst="rect">
            <ns1:avLst/>
          </ns1:prstGeom>
          <ns1:solidFill>
            <ns1:srgbClr val="E2E8F0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762000" y="762000"/>
            <ns1:ext cx="11430000" cy="46672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3000" i="0" u="none">
                <ns1:solidFill>
                  <ns1:srgbClr val="0F172A"/>
                </ns1:solidFill>
                <ns1:latin typeface="Inter"/>
              </ns1:rPr>
              <ns1:t>Reclamações e resolução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762000" y="2590800"/>
            <ns1:ext cx="5899546" cy="56197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3600" i="0" u="none">
                <ns1:solidFill>
                  <ns1:srgbClr val="E11D48"/>
                </ns1:solidFill>
                <ns1:latin typeface="Inter"/>
              </ns1:rPr>
              <ns1:t>Volume de reclamações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762000" y="3305175"/>
            <ns1:ext cx="4814887" cy="600075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0" sz="1350" i="0" u="none">
                <ns1:solidFill>
                  <ns1:srgbClr val="475569"/>
                </ns1:solidFill>
                <ns1:latin typeface="Inter"/>
              </ns1:rPr>
              <ns1:t>NPS médio: 8,52 (0); 7,77 (1); 6,05 (2); 4,91 (3). Grupo sem reclamação: n=23.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710362" y="2590800"/>
            <ns1:ext cx="5481637" cy="56197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3600" i="0" u="none">
                <ns1:solidFill>
                  <ns1:srgbClr val="E11D48"/>
                </ns1:solidFill>
                <ns1:latin typeface="Inter"/>
              </ns1:rPr>
              <ns1:t>Tempo de resolução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6710362" y="3305175"/>
            <ns1:ext cx="4814887" cy="600075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0" sz="1350" i="0" u="none">
                <ns1:solidFill>
                  <ns1:srgbClr val="475569"/>
                </ns1:solidFill>
                <ns1:latin typeface="Inter"/>
              </ns1:rPr>
              <ns1:t>NPS médio: 5,3 (0 dias) e 3,7 (&gt;10 dias), em grupos de n=208 e n=214. Padrão da amostra; não prova causa.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762000" y="1838325"/>
            <ns1:ext cx="6194524" cy="27622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1800" i="0" u="none">
                <ns1:solidFill>
                  <ns1:srgbClr val="0F172A"/>
                </ns1:solidFill>
                <ns1:latin typeface="Inter"/>
              </ns1:rPr>
              <ns1:t>Sinal para investigar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6710362" y="1838325"/>
            <ns1:ext cx="5481637" cy="27622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1800" i="0" u="none">
                <ns1:solidFill>
                  <ns1:srgbClr val="0F172A"/>
                </ns1:solidFill>
                <ns1:latin typeface="Inter"/>
              </ns1:rPr>
              <ns1:t>Reclamações e tempo de resolução</ns1:t>
            </ns1:r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2857500" y="4372867"/>
            <ns1:ext cx="6477000" cy="685800"/>
          </ns1:xfrm>
          <ns1:prstGeom prst="roundRect">
            <ns1:avLst>
              <ns1:gd name="adj" fmla="val 11111"/>
            </ns1:avLst>
          </ns1:prstGeom>
          <ns1:solidFill>
            <ns1:srgbClr val="F1F5F9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image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5810250" y="1799332"/>
            <ns1:ext cx="571500" cy="457200"/>
          </ns1:xfrm>
          <ns1:prstGeom prst="rect">
            <ns1:avLst/>
          </ns1:prstGeom>
        </ns0:spPr>
      </ns0:pic>
      <ns0:sp>
        <ns0:nvSpPr>
          <ns0:cNvPr id="4" name="TextBox 3"/>
          <ns0:cNvSpPr txBox="1"/>
          <ns0:nvPr/>
        </ns0:nvSpPr>
        <ns0:spPr>
          <ns1:xfrm>
            <ns1:off x="3114377" y="2561332"/>
            <ns1:ext cx="5963245" cy="56197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ctr"/>
            <ns1:r>
              <ns1:rPr b="1" sz="3600" i="0" u="none">
                <ns1:solidFill>
                  <ns1:srgbClr val="0F172A"/>
                </ns1:solidFill>
                <ns1:latin typeface="Inter"/>
              </ns1:rPr>
              <ns1:t>Diferenças por perfil não são claras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928812" y="3351907"/>
            <ns1:ext cx="8334375" cy="63996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ctr">
              <ns1:lnSpc>
                <ns1:spcPts val="2520"/>
              </ns1:lnSpc>
            </ns1:pPr>
            <ns1:r>
              <ns1:rPr b="0" sz="1800" i="0" u="none">
                <ns1:solidFill>
                  <ns1:srgbClr val="475569"/>
                </ns1:solidFill>
                <ns1:latin typeface="Inter"/>
              </ns1:rPr>
              <ns1:t>Kruskal–Wallis: região p=0,497; relacionamento p=0,189; idade p=0,058.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2619375" y="4601467"/>
            <ns1:ext cx="6953250" cy="2286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ctr"/>
            <ns1:r>
              <ns1:rPr b="1" sz="1500" i="0" u="none">
                <ns1:solidFill>
                  <ns1:srgbClr val="0F172A"/>
                </ns1:solidFill>
                <ns1:latin typeface="Inter"/>
              </ns1:rPr>
              <ns1:t>Sem evidência a 5% não significa que os segmentos sejam equivalentes.</ns1:t>
            </ns1:r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8FAFC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762000" y="762000"/>
            <ns1:ext cx="11430000" cy="46672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3000" i="0" u="none">
                <ns1:solidFill>
                  <ns1:srgbClr val="0F172A"/>
                </ns1:solidFill>
                <ns1:latin typeface="Inter"/>
              </ns1:rPr>
              <ns1:t>Modelo preditivo: etapa futura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62000" y="1381125"/>
            <ns1:ext cx="11430000" cy="2286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0" sz="1500" i="0" u="none">
                <ns1:solidFill>
                  <ns1:srgbClr val="64748B"/>
                </ns1:solidFill>
                <ns1:latin typeface="Inter"/>
              </ns1:rPr>
              <ns1:t>Proposta ainda não implementada; depende de validação com dados reais.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762000" y="2447925"/>
            <ns1:ext cx="10668000" cy="38100"/>
          </ns1:xfrm>
          <ns1:prstGeom prst="rect">
            <ns1:avLst/>
          </ns1:prstGeom>
          <ns1:solidFill>
            <ns1:srgbClr val="CBD5E1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ounded Rectangle 4"/>
          <ns0:cNvSpPr/>
          <ns0:nvPr/>
        </ns0:nvSpPr>
        <ns0:spPr>
          <ns1:xfrm>
            <ns1:off x="762000" y="2219325"/>
            <ns1:ext cx="495300" cy="495300"/>
          </ns1:xfrm>
          <ns1:prstGeom prst="roundRect">
            <ns1:avLst>
              <ns1:gd name="adj" fmla="val 50000"/>
            </ns1:avLst>
          </ns1:prstGeom>
          <ns1:solidFill>
            <ns1:srgbClr val="3B82F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4394150" y="2219325"/>
            <ns1:ext cx="495300" cy="495300"/>
          </ns1:xfrm>
          <ns1:prstGeom prst="roundRect">
            <ns1:avLst>
              <ns1:gd name="adj" fmla="val 50000"/>
            </ns1:avLst>
          </ns1:prstGeom>
          <ns1:solidFill>
            <ns1:srgbClr val="3B82F6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8026300" y="2219325"/>
            <ns1:ext cx="495300" cy="495300"/>
          </ns1:xfrm>
          <ns1:prstGeom prst="roundRect">
            <ns1:avLst>
              <ns1:gd name="adj" fmla="val 50000"/>
            </ns1:avLst>
          </ns1:prstGeom>
          <ns1:solidFill>
            <ns1:srgbClr val="10B981"/>
          </ns1:solidFill>
          <ns1:ln>
            <ns1:noFill/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19125" y="2219325"/>
            <ns1:ext cx="781050" cy="495300"/>
          </ns1:xfrm>
          <ns1:prstGeom prst="rect">
            <ns1:avLst/>
          </ns1:prstGeom>
          <ns1:noFill/>
        </ns0:spPr>
        <ns0:txBody>
          <ns1:bodyPr wrap="square" lIns="0" rIns="0" tIns="0" bIns="0" anchor="ctr">
            <ns1:spAutoFit/>
          </ns1:bodyPr>
          <ns1:lstStyle/>
          <ns1:p>
            <ns1:pPr algn="ctr"/>
            <ns1:r>
              <ns1:rPr b="1" sz="1800" i="0" u="none">
                <ns1:solidFill>
                  <ns1:srgbClr val="FFFFFF"/>
                </ns1:solidFill>
                <ns1:latin typeface="Inter"/>
              </ns1:rPr>
              <ns1:t>1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762000" y="2943225"/>
            <ns1:ext cx="4467159" cy="2286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1500" i="0" u="none">
                <ns1:solidFill>
                  <ns1:srgbClr val="0F172A"/>
                </ns1:solidFill>
                <ns1:latin typeface="Inter"/>
              </ns1:rPr>
              <ns1:t>Definir o momento da decisão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762000" y="3248025"/>
            <ns1:ext cx="3498800" cy="38100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0" sz="1200" i="0" u="none">
                <ns1:solidFill>
                  <ns1:srgbClr val="475569"/>
                </ns1:solidFill>
                <ns1:latin typeface="Inter"/>
              </ns1:rPr>
              <ns1:t>Atraso realizado e atendimento são sinais disponíveis durante ou após a jornada.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4251275" y="2219325"/>
            <ns1:ext cx="781050" cy="495300"/>
          </ns1:xfrm>
          <ns1:prstGeom prst="rect">
            <ns1:avLst/>
          </ns1:prstGeom>
          <ns1:noFill/>
        </ns0:spPr>
        <ns0:txBody>
          <ns1:bodyPr wrap="square" lIns="0" rIns="0" tIns="0" bIns="0" anchor="ctr">
            <ns1:spAutoFit/>
          </ns1:bodyPr>
          <ns1:lstStyle/>
          <ns1:p>
            <ns1:pPr algn="ctr"/>
            <ns1:r>
              <ns1:rPr b="1" sz="1800" i="0" u="none">
                <ns1:solidFill>
                  <ns1:srgbClr val="FFFFFF"/>
                </ns1:solidFill>
                <ns1:latin typeface="Inter"/>
              </ns1:rPr>
              <ns1:t>2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4394150" y="2943225"/>
            <ns1:ext cx="4467159" cy="2286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1500" i="0" u="none">
                <ns1:solidFill>
                  <ns1:srgbClr val="0F172A"/>
                </ns1:solidFill>
                <ns1:latin typeface="Inter"/>
              </ns1:rPr>
              <ns1:t>Construir e validar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4394150" y="3248025"/>
            <ns1:ext cx="3498800" cy="38100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0" sz="1200" i="0" u="none">
                <ns1:solidFill>
                  <ns1:srgbClr val="475569"/>
                </ns1:solidFill>
                <ns1:latin typeface="Inter"/>
              </ns1:rPr>
              <ns1:t>Não há modelo ou métricas nesta entrega; prever antes da entrega exige sinais antecedentes.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7883425" y="2219325"/>
            <ns1:ext cx="781050" cy="495300"/>
          </ns1:xfrm>
          <ns1:prstGeom prst="rect">
            <ns1:avLst/>
          </ns1:prstGeom>
          <ns1:noFill/>
        </ns0:spPr>
        <ns0:txBody>
          <ns1:bodyPr wrap="square" lIns="0" rIns="0" tIns="0" bIns="0" anchor="ctr">
            <ns1:spAutoFit/>
          </ns1:bodyPr>
          <ns1:lstStyle/>
          <ns1:p>
            <ns1:pPr algn="ctr"/>
            <ns1:r>
              <ns1:rPr b="1" sz="1800" i="0" u="none">
                <ns1:solidFill>
                  <ns1:srgbClr val="F8FAFC"/>
                </ns1:solidFill>
                <ns1:latin typeface="Inter"/>
              </ns1:rPr>
              <ns1:t>3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8026300" y="2943225"/>
            <ns1:ext cx="4165699" cy="2286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1500" i="0" u="none">
                <ns1:solidFill>
                  <ns1:srgbClr val="0F172A"/>
                </ns1:solidFill>
                <ns1:latin typeface="Inter"/>
              </ns1:rPr>
              <ns1:t>Testar a intervenção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8026300" y="3248025"/>
            <ns1:ext cx="3498800" cy="38100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0" sz="1200" i="0" u="none">
                <ns1:solidFill>
                  <ns1:srgbClr val="475569"/>
                </ns1:solidFill>
                <ns1:latin typeface="Inter"/>
              </ns1:rPr>
              <ns1:t>Medir resultado em piloto controlado antes de afirmar efeito ou ROI.</ns1:t>
            </ns1:r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Rounded Rectangle 1"/>
          <ns0:cNvSpPr/>
          <ns0:nvPr/>
        </ns0:nvSpPr>
        <ns0:spPr>
          <ns1:xfrm>
            <ns1:off x="762000" y="1685925"/>
            <ns1:ext cx="3403550" cy="4410075"/>
          </ns1:xfrm>
          <ns1:prstGeom prst="roundRect">
            <ns1:avLst>
              <ns1:gd name="adj" fmla="val 3358"/>
            </ns1:avLst>
          </ns1:prstGeom>
          <ns1:noFill/>
          <ns1:ln w="19050">
            <ns1:solidFill>
              <ns1:srgbClr val="E2E8F0"/>
            </ns1:solidFill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ounded Rectangle 2"/>
          <ns0:cNvSpPr/>
          <ns0:nvPr/>
        </ns0:nvSpPr>
        <ns0:spPr>
          <ns1:xfrm>
            <ns1:off x="4394150" y="1685925"/>
            <ns1:ext cx="3403550" cy="4410075"/>
          </ns1:xfrm>
          <ns1:prstGeom prst="roundRect">
            <ns1:avLst>
              <ns1:gd name="adj" fmla="val 3358"/>
            </ns1:avLst>
          </ns1:prstGeom>
          <ns1:noFill/>
          <ns1:ln w="19050">
            <ns1:solidFill>
              <ns1:srgbClr val="E2E8F0"/>
            </ns1:solidFill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8026300" y="1685925"/>
            <ns1:ext cx="3403550" cy="4410075"/>
          </ns1:xfrm>
          <ns1:prstGeom prst="roundRect">
            <ns1:avLst>
              <ns1:gd name="adj" fmla="val 3358"/>
            </ns1:avLst>
          </ns1:prstGeom>
          <ns1:noFill/>
          <ns1:ln w="19050">
            <ns1:solidFill>
              <ns1:srgbClr val="E2E8F0"/>
            </ns1:solidFill>
          </ns1:ln>
          <ns1:effectLst/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5" name="Picture 4" descr="image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1085850" y="2009775"/>
            <ns1:ext cx="304800" cy="304800"/>
          </ns1:xfrm>
          <ns1:prstGeom prst="rect">
            <ns1:avLst/>
          </ns1:prstGeom>
        </ns0:spPr>
      </ns0:pic>
      <ns0:pic>
        <ns0:nvPicPr>
          <ns0:cNvPr id="6" name="Picture 5" descr="image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4718000" y="2009775"/>
            <ns1:ext cx="266700" cy="304800"/>
          </ns1:xfrm>
          <ns1:prstGeom prst="rect">
            <ns1:avLst/>
          </ns1:prstGeom>
        </ns0:spPr>
      </ns0:pic>
      <ns0:pic>
        <ns0:nvPicPr>
          <ns0:cNvPr id="7" name="Picture 6" descr="imag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8350150" y="2009775"/>
            <ns1:ext cx="381000" cy="304800"/>
          </ns1:xfrm>
          <ns1:prstGeom prst="rect">
            <ns1:avLst/>
          </ns1:prstGeom>
        </ns0:spPr>
      </ns0:pic>
      <ns0:sp>
        <ns0:nvSpPr>
          <ns0:cNvPr id="8" name="TextBox 7"/>
          <ns0:cNvSpPr txBox="1"/>
          <ns0:nvPr/>
        </ns0:nvSpPr>
        <ns0:spPr>
          <ns1:xfrm>
            <ns1:off x="762000" y="762000"/>
            <ns1:ext cx="11430000" cy="466725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3000" i="0" u="none">
                <ns1:solidFill>
                  <ns1:srgbClr val="0F172A"/>
                </ns1:solidFill>
                <ns1:latin typeface="Inter"/>
              </ns1:rPr>
              <ns1:t>Plano de Ação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1085850" y="2505075"/>
            <ns1:ext cx="3617053" cy="2286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1500" i="0" u="none">
                <ns1:solidFill>
                  <ns1:srgbClr val="0F172A"/>
                </ns1:solidFill>
                <ns1:latin typeface="Inter"/>
              </ns1:rPr>
              <ns1:t>Gestão do SLA logístico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1085850" y="2847975"/>
            <ns1:ext cx="2851100" cy="57150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0" sz="1200" i="0" u="none">
                <ns1:solidFill>
                  <ns1:srgbClr val="475569"/>
                </ns1:solidFill>
                <ns1:latin typeface="Inter"/>
              </ns1:rPr>
              <ns1:t>Monitorar atrasos e validar ações com dados, contratos e capacidade operacional.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4718000" y="2505075"/>
            <ns1:ext cx="3617053" cy="2286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1500" i="0" u="none">
                <ns1:solidFill>
                  <ns1:srgbClr val="0F172A"/>
                </ns1:solidFill>
                <ns1:latin typeface="Inter"/>
              </ns1:rPr>
              <ns1:t>Autonomia no SAC (FCR)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4718000" y="2847975"/>
            <ns1:ext cx="2851100" cy="57150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0" sz="1200" i="0" u="none">
                <ns1:solidFill>
                  <ns1:srgbClr val="475569"/>
                </ns1:solidFill>
                <ns1:latin typeface="Inter"/>
              </ns1:rPr>
              <ns1:t>Acompanhar reincidência e qualidade da resolução no primeiro contato.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8350150" y="2505075"/>
            <ns1:ext cx="3617053" cy="228600"/>
          </ns1:xfrm>
          <ns1:prstGeom prst="rect">
            <ns1:avLst/>
          </ns1:prstGeom>
          <ns1:noFill/>
        </ns0:spPr>
        <ns0:txBody>
          <ns1:bodyPr wrap="none" lIns="0" rIns="0" tIns="0" bIns="0" anchor="t">
            <ns1:spAutoFit/>
          </ns1:bodyPr>
          <ns1:lstStyle/>
          <ns1:p>
            <ns1:pPr algn="l"/>
            <ns1:r>
              <ns1:rPr b="1" sz="1500" i="0" u="none">
                <ns1:solidFill>
                  <ns1:srgbClr val="0F172A"/>
                </ns1:solidFill>
                <ns1:latin typeface="Inter"/>
              </ns1:rPr>
              <ns1:t>Modelo preditivo (futuro)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8350150" y="2847975"/>
            <ns1:ext cx="2851100" cy="571500"/>
          </ns1:xfrm>
          <ns1:prstGeom prst="rect">
            <ns1:avLst/>
          </ns1:prstGeom>
          <ns1:noFill/>
        </ns0:spPr>
        <ns0:txBody>
          <ns1:bodyPr wrap="square" lIns="0" rIns="0" tIns="0" bIns="0" anchor="t">
            <ns1:spAutoFit/>
          </ns1:bodyPr>
          <ns1:lstStyle/>
          <ns1:p>
            <ns1:pPr algn="l"/>
            <ns1:r>
              <ns1:rPr b="0" sz="1200" i="0" u="none">
                <ns1:solidFill>
                  <ns1:srgbClr val="475569"/>
                </ns1:solidFill>
                <ns1:latin typeface="Inter"/>
              </ns1:rPr>
              <ns1:t>Só avançar após validar dados, momento da previsão, baseline e benefício em piloto.</ns1:t>
            </ns1:r>
          </ns1:p>
        </ns0:txBody>
      </ns0:sp>
    </ns0:spTree>
  </ns0:cSld>
  <ns0:clrMapOvr>
    <ns1:masterClrMapping/>
  </ns0:clrMapOvr>
</ns0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08251" y="2809875"/>
            <a:ext cx="3975496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Inter"/>
              </a:rPr>
              <a:t>Obrigado.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73140" y="3771900"/>
            <a:ext cx="384571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Dúvidas e próximos passos?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