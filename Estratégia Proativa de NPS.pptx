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92d71f13-2275-40a5-a076-9a32f77901d2.fntdata" /><ns0:Relationship Id="rIdFont18" Type="http://schemas.openxmlformats.org/officeDocument/2006/relationships/font" Target="fonts/c1b36356-402c-4d3e-bf3e-d8effb73b34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96554"/>
            <a:ext cx="5715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539454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Do Atrito à Lealdade: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Inter"/>
              </a:rPr>
              <a:t> Estratégia Preditiva de NPS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08995"/>
            <a:ext cx="6762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Transformando dados operacionais em ações preventivas para proteger a receita do e-commerce.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2882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1950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509837"/>
            <a:ext cx="60007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O Desafio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05162"/>
            <a:ext cx="466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O crescimento acelerado do volume de pedidos gerou instabilidade na experiência do cliente. Atualmente, somos reativos: o NPS é medido apenas no fim da jornada.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86025"/>
            <a:ext cx="533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Alta Variabilidade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8450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NPS oscila drasticamente entre clientes com indicadores similares.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076700"/>
            <a:ext cx="533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Ponto Cego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29125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Falta capacidade de antecipar problemas antes da pesquisa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38957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O CUSTO DA INSATISFAÇÃO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04900"/>
            <a:ext cx="8101012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O NPS atua como um preditor exato de retenção e receita.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65" y="3686175"/>
            <a:ext cx="61793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Inter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65" y="4752975"/>
            <a:ext cx="6179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Promotores (Nota 9-10)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65" y="5057775"/>
            <a:ext cx="617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Taxa de recompra em 30 dias.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8590" y="3686175"/>
            <a:ext cx="61793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E11D48"/>
                </a:solidFill>
                <a:latin typeface="Inter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8590" y="4752975"/>
            <a:ext cx="6179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Detratores (Nota 0-6)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8590" y="5057775"/>
            <a:ext cx="617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Abandono total da marca (Churn).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52687"/>
            <a:ext cx="3352800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390775"/>
            <a:ext cx="3352800" cy="3000375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152650"/>
            <a:ext cx="3352800" cy="347662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33687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717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53365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Os Inimigos da Satisfação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43287"/>
            <a:ext cx="34004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Atraso Logístico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19537"/>
            <a:ext cx="3238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11D48"/>
                </a:solidFill>
                <a:latin typeface="Inter"/>
              </a:rPr>
              <a:t>-0.60 (Correlação)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48162"/>
            <a:ext cx="2686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Maior ofensor absoluto. Destrói instantaneamente a nota do cliente.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381375"/>
            <a:ext cx="282035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Volume de Reclamações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181475"/>
            <a:ext cx="3238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11D48"/>
                </a:solidFill>
                <a:latin typeface="Inter"/>
              </a:rPr>
              <a:t>-0.50 (Correlação)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610100"/>
            <a:ext cx="2686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 necessidade de acionar o SAC multiplica a insatisfação.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43250"/>
            <a:ext cx="282035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Tentativas de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43350"/>
            <a:ext cx="2686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+0.03 (Correlação nula)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648200"/>
            <a:ext cx="2686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Múltiplas visitas não afetam o NPS, desde que não haja atraso.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Tolerância Zero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85750" y="1381125"/>
            <a:ext cx="12763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O limite da paciência do cliente antes de se tornar um detrator.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575" y="2867025"/>
            <a:ext cx="3738562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b="1" sz="10800" i="0" u="none">
                <a:solidFill>
                  <a:srgbClr val="E11D48"/>
                </a:solidFill>
                <a:latin typeface="Inter"/>
              </a:rPr>
              <a:t>1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6662" y="4467225"/>
            <a:ext cx="57983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De atraso despenca o NPS médio para 5.5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895850"/>
            <a:ext cx="714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 insatisfação não cresce de forma linear. Logo no primeiro dia de falha no prazo, o consumidor afunda na zona de detração.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1838325"/>
            <a:ext cx="9525" cy="42576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838325"/>
            <a:ext cx="4719637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10362" y="1838325"/>
            <a:ext cx="4719637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266950"/>
            <a:ext cx="47196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10362" y="2266950"/>
            <a:ext cx="47196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O Gargalo do Atendimento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90800"/>
            <a:ext cx="589954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E11D48"/>
                </a:solidFill>
                <a:latin typeface="Inter"/>
              </a:rPr>
              <a:t>2ª Reclamação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05175"/>
            <a:ext cx="481488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O cliente perdoa o primeiro contato (NPS ~7.8). A necessidade de reabrir o chamado consolida o detrator (NPS ~6.0).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0362" y="2590800"/>
            <a:ext cx="548163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E11D48"/>
                </a:solidFill>
                <a:latin typeface="Inter"/>
              </a:rPr>
              <a:t>&lt; 7.0 NPS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0362" y="3305175"/>
            <a:ext cx="481488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Qualquer resolução (mesmo em 0 dias) resulta em nota de detração. O atendimento ágil não salva a falha logística prévia.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838325"/>
            <a:ext cx="619452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Atrito Repetitivo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0362" y="1838325"/>
            <a:ext cx="54816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Velocidade de Resolução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7500" y="4372867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799332"/>
            <a:ext cx="5715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4377" y="2561332"/>
            <a:ext cx="596324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O Mito Demográfico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35190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Idade, região e tempo de fidelidade não alteram o NPS. A insatisfação é idêntica em todos os segmentos.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9375" y="4601467"/>
            <a:ext cx="6953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Insight: O problema é estritamente operacional e transversal.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O Futuro: Modelo Preditivo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8112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Atuação proativa baseada em Machine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47925"/>
            <a:ext cx="10668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2193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4150" y="22193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22193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25" y="2219325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43225"/>
            <a:ext cx="44671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Coleta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48025"/>
            <a:ext cx="34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Captura de sinais operacionais (atraso logístico, acionamento do SAC).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275" y="2219325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150" y="2943225"/>
            <a:ext cx="44671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Classificação via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4150" y="3248025"/>
            <a:ext cx="34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Algoritmo identifica se o cliente tem alto risco de detração antes da entrega.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425" y="2219325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6300" y="2943225"/>
            <a:ext cx="41656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Ação Preventiva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6300" y="3248025"/>
            <a:ext cx="34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Atendimento entra em contato com soluções compensatórias imediatas.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685925"/>
            <a:ext cx="3403550" cy="4410075"/>
          </a:xfrm>
          <a:prstGeom prst="roundRect">
            <a:avLst>
              <a:gd name="adj" fmla="val 3358"/>
            </a:avLst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1685925"/>
            <a:ext cx="3403550" cy="4410075"/>
          </a:xfrm>
          <a:prstGeom prst="roundRect">
            <a:avLst>
              <a:gd name="adj" fmla="val 3358"/>
            </a:avLst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685925"/>
            <a:ext cx="3403550" cy="4410075"/>
          </a:xfrm>
          <a:prstGeom prst="roundRect">
            <a:avLst>
              <a:gd name="adj" fmla="val 3358"/>
            </a:avLst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0097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00" y="20097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50" y="200977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Plano de 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2505075"/>
            <a:ext cx="36170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SLA Logístico Inflexível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2847975"/>
            <a:ext cx="285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Tolerância zero para atrasos. Revisão imediata de contratos com transportadoras ofensoras.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000" y="2505075"/>
            <a:ext cx="36170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Autonomia no SAC (FCR)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00" y="2847975"/>
            <a:ext cx="285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Capacitar agentes para resolver o problema no primeiro contato, evitando a 2ª reclamação.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0150" y="2505075"/>
            <a:ext cx="36170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Deploy do Modelo Preditivo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2847975"/>
            <a:ext cx="285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Implementar Random Forest para gerar alertas de detração em tempo real na esteira.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8251" y="2809875"/>
            <a:ext cx="3975496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Obrigado.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73140" y="3771900"/>
            <a:ext cx="3845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Dúvidas e próximos passos?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